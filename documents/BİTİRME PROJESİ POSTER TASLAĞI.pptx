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</p:sldIdLst>
  <p:sldSz cx="32918400" cy="43891200"/>
  <p:notesSz cx="6858000" cy="9144000"/>
  <p:embeddedFontLst>
    <p:embeddedFont>
      <p:font typeface="Amaranth" panose="020B0604020202020204" charset="-94"/>
      <p:regular r:id="rId6"/>
    </p:embeddedFont>
    <p:embeddedFont>
      <p:font typeface="Montserrat Light" panose="00000400000000000000" pitchFamily="2" charset="-94"/>
      <p:regular r:id="rId7"/>
      <p:italic r:id="rId8"/>
    </p:embeddedFont>
    <p:embeddedFont>
      <p:font typeface="Tahoma" panose="020B0604030504040204" pitchFamily="34" charset="0"/>
      <p:regular r:id="rId9"/>
      <p:bold r:id="rId10"/>
    </p:embeddedFont>
    <p:embeddedFont>
      <p:font typeface="Titillium Web" panose="00000500000000000000" pitchFamily="2" charset="-94"/>
      <p:regular r:id="rId11"/>
      <p:bold r:id="rId12"/>
      <p:italic r:id="rId13"/>
      <p:boldItalic r:id="rId14"/>
    </p:embeddedFont>
  </p:embeddedFontLst>
  <p:custDataLst>
    <p:tags r:id="rId15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>
      <p:cViewPr varScale="1">
        <p:scale>
          <a:sx n="13" d="100"/>
          <a:sy n="13" d="100"/>
        </p:scale>
        <p:origin x="2947" y="192"/>
      </p:cViewPr>
      <p:guideLst>
        <p:guide orient="horz" pos="13824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tags" Target="tags/tag1.xml"/><Relationship Id="rId10" Type="http://schemas.openxmlformats.org/officeDocument/2006/relationships/font" Target="fonts/font5.fntdata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13635568"/>
            <a:ext cx="27979688" cy="9406467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24870834"/>
            <a:ext cx="23043356" cy="11218333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42900" indent="0" algn="ctr">
              <a:buNone/>
              <a:defRPr/>
            </a:lvl2pPr>
            <a:lvl3pPr marL="685800" indent="0" algn="ctr">
              <a:buNone/>
              <a:defRPr/>
            </a:lvl3pPr>
            <a:lvl4pPr marL="1028700" indent="0" algn="ctr">
              <a:buNone/>
              <a:defRPr/>
            </a:lvl4pPr>
            <a:lvl5pPr marL="1371600" indent="0" algn="ctr">
              <a:buNone/>
              <a:defRPr/>
            </a:lvl5pPr>
            <a:lvl6pPr marL="1714500" indent="0" algn="ctr">
              <a:buNone/>
              <a:defRPr/>
            </a:lvl6pPr>
            <a:lvl7pPr marL="2057400" indent="0" algn="ctr">
              <a:buNone/>
              <a:defRPr/>
            </a:lvl7pPr>
            <a:lvl8pPr marL="2400300" indent="0" algn="ctr">
              <a:buNone/>
              <a:defRPr/>
            </a:lvl8pPr>
            <a:lvl9pPr marL="27432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81D505-ABFC-493F-8858-9F27839AE9B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2307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CFDBA80-68C6-4586-92A4-5A3F769223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1068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28204585"/>
            <a:ext cx="27980878" cy="8716433"/>
          </a:xfrm>
        </p:spPr>
        <p:txBody>
          <a:bodyPr anchor="t"/>
          <a:lstStyle>
            <a:defPPr>
              <a:defRPr kern="1200"/>
            </a:defPPr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18603384"/>
            <a:ext cx="27980878" cy="96012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17CCD47-6DB2-4B8A-910F-EAB6C45869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1605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618C69-F50A-4456-BD00-30C7E97809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890595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9825568"/>
            <a:ext cx="14544675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13919200"/>
            <a:ext cx="14544675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9825568"/>
            <a:ext cx="14550630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13919200"/>
            <a:ext cx="14550630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1BE4E77-EB76-40B2-97CB-56BAD62ADA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8900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FD85181-2ED8-4C66-A6CF-2048952760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44740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D4797FD-DFC2-4481-9B76-E30C0158C4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950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1748367"/>
            <a:ext cx="10829925" cy="7435851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1748367"/>
            <a:ext cx="18402300" cy="37458650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9184217"/>
            <a:ext cx="10829925" cy="300228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22DDFC5-19EE-4BC8-86F5-BE1753B3A4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96738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30723418"/>
            <a:ext cx="19751280" cy="3627967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3922184"/>
            <a:ext cx="19751280" cy="2633345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34351385"/>
            <a:ext cx="19751280" cy="5149849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9B3B4E7-A2BC-4B2C-8917-8370A599FB4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06098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20C972F-CE89-4882-8841-5E4EC18666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712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1756834"/>
            <a:ext cx="7406878" cy="37452300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1756834"/>
            <a:ext cx="22106334" cy="37452300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7478B96-C558-46F3-BF4C-CB626F7BF5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7945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1756833"/>
            <a:ext cx="29627512" cy="731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10240434"/>
            <a:ext cx="29627512" cy="2896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39971132"/>
            <a:ext cx="104251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fld id="{16CEF5F2-27D4-42FE-9AE6-E7F0659E0B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219456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219456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443992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449707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debatingdenim  Size: 36x48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+mj-lt"/>
          <a:ea typeface="+mj-ea"/>
          <a:cs typeface="+mj-cs"/>
        </a:defRPr>
      </a:lvl1pPr>
      <a:lvl2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2pPr>
      <a:lvl3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3pPr>
      <a:lvl4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4pPr>
      <a:lvl5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5pPr>
      <a:lvl6pPr marL="3429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6pPr>
      <a:lvl7pPr marL="6858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7pPr>
      <a:lvl8pPr marL="10287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8pPr>
      <a:lvl9pPr marL="13716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325166" indent="-1325166" algn="l" defTabSz="3527822" rtl="0" eaLnBrk="0" fontAlgn="base" hangingPunct="0">
        <a:spcBef>
          <a:spcPct val="20000"/>
        </a:spcBef>
        <a:spcAft>
          <a:spcPct val="0"/>
        </a:spcAft>
        <a:buChar char="•"/>
        <a:defRPr sz="12300">
          <a:solidFill>
            <a:schemeClr val="tx1"/>
          </a:solidFill>
          <a:latin typeface="+mn-lt"/>
          <a:ea typeface="+mn-ea"/>
          <a:cs typeface="+mn-cs"/>
        </a:defRPr>
      </a:lvl1pPr>
      <a:lvl2pPr marL="2867025" indent="-1103710" algn="l" defTabSz="3527822" rtl="0" eaLnBrk="0" fontAlgn="base" hangingPunct="0">
        <a:spcBef>
          <a:spcPct val="20000"/>
        </a:spcBef>
        <a:spcAft>
          <a:spcPct val="0"/>
        </a:spcAft>
        <a:buChar char="–"/>
        <a:defRPr sz="10800">
          <a:solidFill>
            <a:schemeClr val="tx1"/>
          </a:solidFill>
          <a:latin typeface="+mn-lt"/>
        </a:defRPr>
      </a:lvl2pPr>
      <a:lvl3pPr marL="4410075" indent="-882254" algn="l" defTabSz="3527822" rtl="0" eaLnBrk="0" fontAlgn="base" hangingPunct="0">
        <a:spcBef>
          <a:spcPct val="20000"/>
        </a:spcBef>
        <a:spcAft>
          <a:spcPct val="0"/>
        </a:spcAft>
        <a:buChar char="•"/>
        <a:defRPr sz="9300">
          <a:solidFill>
            <a:schemeClr val="tx1"/>
          </a:solidFill>
          <a:latin typeface="+mn-lt"/>
        </a:defRPr>
      </a:lvl3pPr>
      <a:lvl4pPr marL="6172200" indent="-881063" algn="l" defTabSz="3527822" rtl="0" eaLnBrk="0" fontAlgn="base" hangingPunct="0">
        <a:spcBef>
          <a:spcPct val="20000"/>
        </a:spcBef>
        <a:spcAft>
          <a:spcPct val="0"/>
        </a:spcAft>
        <a:buChar char="–"/>
        <a:defRPr sz="7800">
          <a:solidFill>
            <a:schemeClr val="tx1"/>
          </a:solidFill>
          <a:latin typeface="+mn-lt"/>
        </a:defRPr>
      </a:lvl4pPr>
      <a:lvl5pPr marL="7935516" indent="-882254" algn="l" defTabSz="3527822" rtl="0" eaLnBrk="0" fontAlgn="base" hangingPunct="0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5pPr>
      <a:lvl6pPr marL="82784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6pPr>
      <a:lvl7pPr marL="86213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7pPr>
      <a:lvl8pPr marL="89642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8pPr>
      <a:lvl9pPr marL="93071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4"/>
          <p:cNvSpPr>
            <a:spLocks noChangeArrowheads="1"/>
          </p:cNvSpPr>
          <p:nvPr/>
        </p:nvSpPr>
        <p:spPr bwMode="auto">
          <a:xfrm>
            <a:off x="400050" y="381000"/>
            <a:ext cx="32118300" cy="4518373"/>
          </a:xfrm>
          <a:prstGeom prst="roundRect">
            <a:avLst/>
          </a:prstGeom>
          <a:solidFill>
            <a:srgbClr val="2A4A70"/>
          </a:solidFill>
          <a:ln>
            <a:noFill/>
          </a:ln>
        </p:spPr>
        <p:txBody>
          <a:bodyPr lIns="154305" tIns="77153" rIns="154305" bIns="77153" anchor="ctr"/>
          <a:lstStyle>
            <a:defPPr>
              <a:defRPr kern="1200"/>
            </a:defPPr>
          </a:lstStyle>
          <a:p>
            <a:pPr algn="ctr" defTabSz="3527822">
              <a:lnSpc>
                <a:spcPct val="90000"/>
              </a:lnSpc>
            </a:pPr>
            <a:endParaRPr lang="en-US" sz="3675" i="1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4264D35B-B8F4-4A85-9FEE-EA091C5FF1BF}"/>
              </a:ext>
            </a:extLst>
          </p:cNvPr>
          <p:cNvSpPr txBox="1"/>
          <p:nvPr/>
        </p:nvSpPr>
        <p:spPr>
          <a:xfrm>
            <a:off x="2743200" y="752476"/>
            <a:ext cx="27432000" cy="220308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820815">
              <a:spcBef>
                <a:spcPct val="20000"/>
              </a:spcBef>
              <a:defRPr/>
            </a:pPr>
            <a:r>
              <a:rPr lang="tr-TR" sz="6400" dirty="0">
                <a:solidFill>
                  <a:schemeClr val="bg1"/>
                </a:solidFill>
                <a:latin typeface="Amaranth" panose="02000503050000020004" pitchFamily="2" charset="0"/>
              </a:rPr>
              <a:t>SCX-ADAPT</a:t>
            </a:r>
            <a:endParaRPr lang="en-US" sz="6400" dirty="0">
              <a:solidFill>
                <a:schemeClr val="bg1"/>
              </a:solidFill>
              <a:latin typeface="Amaranth" panose="02000503050000020004" pitchFamily="2" charset="0"/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ED235A1B-42BF-4F24-80BC-47A0B3B251F1}"/>
              </a:ext>
            </a:extLst>
          </p:cNvPr>
          <p:cNvSpPr txBox="1"/>
          <p:nvPr/>
        </p:nvSpPr>
        <p:spPr>
          <a:xfrm>
            <a:off x="2758440" y="2484983"/>
            <a:ext cx="27432000" cy="2197525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Doğukan Meral, Hamza Onur Karagür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  <a:p>
            <a:pPr algn="ctr">
              <a:defRPr/>
            </a:pPr>
            <a:r>
              <a:rPr lang="en-US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Supervisor: </a:t>
            </a: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Dr. Öğr. Üyesi Aytun Onay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  <a:p>
            <a:pPr algn="ctr">
              <a:defRPr/>
            </a:pPr>
            <a:r>
              <a:rPr lang="tr-TR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Software Engineering</a:t>
            </a:r>
            <a:endParaRPr lang="en-US" sz="4200" dirty="0">
              <a:solidFill>
                <a:schemeClr val="bg1"/>
              </a:solidFill>
              <a:latin typeface="Titillium Web" panose="00000500000000000000" pitchFamily="2" charset="0"/>
              <a:cs typeface="Arial" pitchFamily="34" charset="0"/>
            </a:endParaRP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9247D261-80E6-4008-A48F-EE2502170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81902" y="7393916"/>
            <a:ext cx="15191087" cy="314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Build a machine learning-driven framework to automatically optimize </a:t>
            </a:r>
            <a:r>
              <a:rPr lang="en-GB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BPF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-based CPU scheduler configurations for Linux 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  <a:r>
              <a:rPr lang="en-GB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sched_ext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’.</a:t>
            </a:r>
            <a:endParaRPr lang="en-GB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Enable adaptive performance tuning across multiple workload types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GB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61C38A20-F85F-4744-B6CC-BB3A406630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87004" y="39942146"/>
            <a:ext cx="15191087" cy="314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Benchmarked 8+ scheduler variants across 3 workload categories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GB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Demonstrated measurable performance improvements through adaptive configuration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GB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Delivered a reproducible testing environment with automated data collection and analysis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GB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612D98-8CC2-49F8-A99E-AB78EC62B5C9}"/>
              </a:ext>
            </a:extLst>
          </p:cNvPr>
          <p:cNvGrpSpPr/>
          <p:nvPr/>
        </p:nvGrpSpPr>
        <p:grpSpPr>
          <a:xfrm>
            <a:off x="16677313" y="38917705"/>
            <a:ext cx="4610406" cy="923330"/>
            <a:chOff x="16737433" y="20746438"/>
            <a:chExt cx="4610406" cy="923330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D78A31B-3E41-4A83-94E1-8D455D061FD9}"/>
                </a:ext>
              </a:extLst>
            </p:cNvPr>
            <p:cNvSpPr txBox="1"/>
            <p:nvPr/>
          </p:nvSpPr>
          <p:spPr>
            <a:xfrm>
              <a:off x="17110204" y="20746438"/>
              <a:ext cx="4237635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en-US" sz="5400" dirty="0">
                  <a:solidFill>
                    <a:srgbClr val="A33B3B"/>
                  </a:solidFill>
                  <a:latin typeface="Amaranth" panose="02000503050000020004" pitchFamily="2" charset="0"/>
                </a:rPr>
                <a:t>CONCLUSION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B14B9E-7604-4C9B-B7A6-C71BF8AE4D20}"/>
                </a:ext>
              </a:extLst>
            </p:cNvPr>
            <p:cNvSpPr/>
            <p:nvPr/>
          </p:nvSpPr>
          <p:spPr bwMode="auto">
            <a:xfrm>
              <a:off x="16737433" y="20841002"/>
              <a:ext cx="365760" cy="457200"/>
            </a:xfrm>
            <a:prstGeom prst="rect">
              <a:avLst/>
            </a:prstGeom>
            <a:solidFill>
              <a:srgbClr val="A33B3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5400">
                <a:latin typeface="Arial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A096A69-5FBA-4B3E-B2FA-B60352F811A7}"/>
              </a:ext>
            </a:extLst>
          </p:cNvPr>
          <p:cNvGrpSpPr/>
          <p:nvPr/>
        </p:nvGrpSpPr>
        <p:grpSpPr>
          <a:xfrm>
            <a:off x="16881903" y="5867404"/>
            <a:ext cx="4177445" cy="923330"/>
            <a:chOff x="16744443" y="5867412"/>
            <a:chExt cx="4177445" cy="92333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A18A5CA-EAF8-4A0C-91E3-652892D85424}"/>
                </a:ext>
              </a:extLst>
            </p:cNvPr>
            <p:cNvSpPr txBox="1"/>
            <p:nvPr/>
          </p:nvSpPr>
          <p:spPr>
            <a:xfrm>
              <a:off x="17110204" y="5867412"/>
              <a:ext cx="3811684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79955"/>
                  </a:solidFill>
                  <a:latin typeface="Amaranth" panose="02000503050000020004" pitchFamily="2" charset="0"/>
                </a:rPr>
                <a:t>OBJECTIVES</a:t>
              </a:r>
              <a:endParaRPr lang="en-US" sz="5400" dirty="0">
                <a:solidFill>
                  <a:srgbClr val="679955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DBBCF0F-8115-4C70-A694-F428A5C95969}"/>
                </a:ext>
              </a:extLst>
            </p:cNvPr>
            <p:cNvSpPr/>
            <p:nvPr/>
          </p:nvSpPr>
          <p:spPr bwMode="auto">
            <a:xfrm>
              <a:off x="16744443" y="5961977"/>
              <a:ext cx="365760" cy="457200"/>
            </a:xfrm>
            <a:prstGeom prst="rect">
              <a:avLst/>
            </a:prstGeom>
            <a:solidFill>
              <a:srgbClr val="67995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sp>
        <p:nvSpPr>
          <p:cNvPr id="19" name="TextBox 19">
            <a:extLst>
              <a:ext uri="{FF2B5EF4-FFF2-40B4-BE49-F238E27FC236}">
                <a16:creationId xmlns:a16="http://schemas.microsoft.com/office/drawing/2014/main" id="{B259D497-80B4-4EAC-8538-8496595AAF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547" y="7454217"/>
            <a:ext cx="15191087" cy="474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Linux CPU schedulers require optimal configuration to balance performance across diverse workloads. Manual tuning is inefficient and non-adaptive to changing system conditions. Our objective is to develop a machine learning-driven framework to automatically optimize BPF-based CPU scheduler configurations for Linux sched_ext, enabling adaptive performance across multiple workload types.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33093B-2117-4555-8D8B-9923DC2B55F0}"/>
              </a:ext>
            </a:extLst>
          </p:cNvPr>
          <p:cNvGrpSpPr/>
          <p:nvPr/>
        </p:nvGrpSpPr>
        <p:grpSpPr>
          <a:xfrm>
            <a:off x="845409" y="5867404"/>
            <a:ext cx="7331125" cy="923330"/>
            <a:chOff x="822963" y="5867404"/>
            <a:chExt cx="7331125" cy="92333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7220CD8-CD1F-4561-B6F6-872F8B351FDE}"/>
                </a:ext>
              </a:extLst>
            </p:cNvPr>
            <p:cNvSpPr txBox="1"/>
            <p:nvPr/>
          </p:nvSpPr>
          <p:spPr>
            <a:xfrm>
              <a:off x="1188720" y="5867404"/>
              <a:ext cx="6965368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E4D99"/>
                  </a:solidFill>
                  <a:latin typeface="Amaranth" panose="02000503050000020004" pitchFamily="2" charset="0"/>
                </a:rPr>
                <a:t>PROJECT DESCRIPTION</a:t>
              </a:r>
              <a:endParaRPr lang="en-US" sz="5400" dirty="0">
                <a:solidFill>
                  <a:srgbClr val="6E4D99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9B7A80-A037-4811-AA81-3FB99CEB6B45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rgbClr val="6E4D99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pic>
        <p:nvPicPr>
          <p:cNvPr id="20" name="Picture 7" descr="Turkish Aeronautical Association University Logo">
            <a:extLst>
              <a:ext uri="{FF2B5EF4-FFF2-40B4-BE49-F238E27FC236}">
                <a16:creationId xmlns:a16="http://schemas.microsoft.com/office/drawing/2014/main" id="{D96F3449-F80F-BC02-F746-D18EF628A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7785" y="960110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7" descr="Turkish Aeronautical Association University Logo">
            <a:extLst>
              <a:ext uri="{FF2B5EF4-FFF2-40B4-BE49-F238E27FC236}">
                <a16:creationId xmlns:a16="http://schemas.microsoft.com/office/drawing/2014/main" id="{8A388561-D33F-2FB6-DE17-C868A77DD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40913" y="960109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6">
            <a:extLst>
              <a:ext uri="{FF2B5EF4-FFF2-40B4-BE49-F238E27FC236}">
                <a16:creationId xmlns:a16="http://schemas.microsoft.com/office/drawing/2014/main" id="{1DA8C840-4C22-77BC-4013-BAE635D6B37D}"/>
              </a:ext>
            </a:extLst>
          </p:cNvPr>
          <p:cNvSpPr txBox="1"/>
          <p:nvPr/>
        </p:nvSpPr>
        <p:spPr>
          <a:xfrm>
            <a:off x="13092244" y="-19786"/>
            <a:ext cx="75793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latin typeface="Montserrat Light" panose="00000400000000000000" pitchFamily="50" charset="0"/>
                <a:ea typeface="Open Sans" panose="020B0606030504020204" pitchFamily="34" charset="0"/>
                <a:cs typeface="Open Sans" panose="020B0606030504020204" pitchFamily="34" charset="0"/>
              </a:rPr>
              <a:t>University of Turkish Aeronautical Association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6A8C6E-6DED-F536-6DEC-24E5488DCB58}"/>
              </a:ext>
            </a:extLst>
          </p:cNvPr>
          <p:cNvGrpSpPr/>
          <p:nvPr/>
        </p:nvGrpSpPr>
        <p:grpSpPr>
          <a:xfrm>
            <a:off x="845409" y="13248040"/>
            <a:ext cx="3765214" cy="923330"/>
            <a:chOff x="822963" y="5867404"/>
            <a:chExt cx="3765214" cy="92333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4395DBB-C7BA-B349-8C01-C2DDB0DFA19E}"/>
                </a:ext>
              </a:extLst>
            </p:cNvPr>
            <p:cNvSpPr txBox="1"/>
            <p:nvPr/>
          </p:nvSpPr>
          <p:spPr>
            <a:xfrm>
              <a:off x="1188720" y="5867404"/>
              <a:ext cx="3399457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Amaranth" panose="02000503050000020004" pitchFamily="2" charset="0"/>
                </a:rPr>
                <a:t>METHODS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A5692EE-B1AD-4E91-CF92-60B4C54F9CCC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</a:endParaRPr>
            </a:p>
          </p:txBody>
        </p:sp>
      </p:grpSp>
      <p:sp>
        <p:nvSpPr>
          <p:cNvPr id="9" name="TextBox 19">
            <a:extLst>
              <a:ext uri="{FF2B5EF4-FFF2-40B4-BE49-F238E27FC236}">
                <a16:creationId xmlns:a16="http://schemas.microsoft.com/office/drawing/2014/main" id="{469EAF54-4D61-8580-D844-912E9ECD85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6896" y="14679719"/>
            <a:ext cx="15191087" cy="4993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Implemented multiple </a:t>
            </a:r>
            <a:r>
              <a:rPr lang="en-GB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BPF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-based schedulers using </a:t>
            </a:r>
            <a:r>
              <a:rPr lang="en-GB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libbpf</a:t>
            </a:r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and kernel tracing</a:t>
            </a:r>
          </a:p>
          <a:p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Collected performance metrics across diverse workloads (git compilation, PostgreSQL benchmarks, gaming)</a:t>
            </a:r>
          </a:p>
          <a:p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Generated comprehensive datasets with CPU utilization, latency, and timing histograms</a:t>
            </a:r>
          </a:p>
          <a:p>
            <a:r>
              <a:rPr lang="en-GB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Applied machine learning techniques to identify optimal scheduler configurations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0A45055-2BB8-6D25-6F89-F8E073CEE372}"/>
              </a:ext>
            </a:extLst>
          </p:cNvPr>
          <p:cNvGrpSpPr/>
          <p:nvPr/>
        </p:nvGrpSpPr>
        <p:grpSpPr>
          <a:xfrm>
            <a:off x="16851423" y="11416003"/>
            <a:ext cx="7672116" cy="923330"/>
            <a:chOff x="822963" y="5867404"/>
            <a:chExt cx="7672116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6AC0FE-8BA8-B690-05EE-C284EA9C2775}"/>
                </a:ext>
              </a:extLst>
            </p:cNvPr>
            <p:cNvSpPr txBox="1"/>
            <p:nvPr/>
          </p:nvSpPr>
          <p:spPr>
            <a:xfrm>
              <a:off x="1188720" y="5867404"/>
              <a:ext cx="7306359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FF0000"/>
                  </a:solidFill>
                  <a:latin typeface="Amaranth" panose="02000503050000020004" pitchFamily="2" charset="0"/>
                </a:rPr>
                <a:t>SYSTEM ARCHITECTURE</a:t>
              </a:r>
              <a:endParaRPr lang="en-US" sz="5400" dirty="0">
                <a:solidFill>
                  <a:srgbClr val="FF0000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3F7EB6-8401-91F8-EA7C-4F281EFC0FB0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solidFill>
                  <a:srgbClr val="FF0000"/>
                </a:solidFill>
                <a:latin typeface="Arial" pitchFamily="34" charset="0"/>
              </a:endParaRPr>
            </a:p>
          </p:txBody>
        </p:sp>
      </p:grpSp>
      <p:sp>
        <p:nvSpPr>
          <p:cNvPr id="14" name="TextBox 19">
            <a:extLst>
              <a:ext uri="{FF2B5EF4-FFF2-40B4-BE49-F238E27FC236}">
                <a16:creationId xmlns:a16="http://schemas.microsoft.com/office/drawing/2014/main" id="{BD907A96-A356-6688-9B91-30681A21CD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87004" y="13035474"/>
            <a:ext cx="15191087" cy="474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-Scheduler Manager handles runtime scheduler switching.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-Monitoring Module gathers system performance metrics.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-Adaptive Engine selects optimal scheduling policies.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-Recovery Module ensures stability through automatic fallback.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-CLI provides configuration and monitoring capabilities.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-Components communicate through a lightweight modular architecture. 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E94D1A1-1064-7050-1216-9800AA097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9" y="20181726"/>
            <a:ext cx="15940489" cy="89266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99BC135-0CEE-348D-7A5B-D428B04BA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1622" y="20181726"/>
            <a:ext cx="15940489" cy="892667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4CC57FE-A632-5E2E-D9C3-38B9FEDA0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759" y="29298949"/>
            <a:ext cx="15940489" cy="8926673"/>
          </a:xfrm>
          <a:prstGeom prst="rect">
            <a:avLst/>
          </a:prstGeom>
        </p:spPr>
      </p:pic>
      <p:pic>
        <p:nvPicPr>
          <p:cNvPr id="2048" name="Picture 2047">
            <a:extLst>
              <a:ext uri="{FF2B5EF4-FFF2-40B4-BE49-F238E27FC236}">
                <a16:creationId xmlns:a16="http://schemas.microsoft.com/office/drawing/2014/main" id="{85EDCB9E-79C5-468B-B41D-30CAD0C5A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1622" y="20181725"/>
            <a:ext cx="15940489" cy="8926673"/>
          </a:xfrm>
          <a:prstGeom prst="rect">
            <a:avLst/>
          </a:prstGeom>
        </p:spPr>
      </p:pic>
      <p:pic>
        <p:nvPicPr>
          <p:cNvPr id="2051" name="Picture 2050">
            <a:extLst>
              <a:ext uri="{FF2B5EF4-FFF2-40B4-BE49-F238E27FC236}">
                <a16:creationId xmlns:a16="http://schemas.microsoft.com/office/drawing/2014/main" id="{B6FA244A-C2AF-3DDC-74BA-541382FA1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7239" y="29298948"/>
            <a:ext cx="15876300" cy="8865364"/>
          </a:xfrm>
          <a:prstGeom prst="rect">
            <a:avLst/>
          </a:prstGeom>
        </p:spPr>
      </p:pic>
      <p:sp>
        <p:nvSpPr>
          <p:cNvPr id="2052" name="TextBox 19">
            <a:extLst>
              <a:ext uri="{FF2B5EF4-FFF2-40B4-BE49-F238E27FC236}">
                <a16:creationId xmlns:a16="http://schemas.microsoft.com/office/drawing/2014/main" id="{3A849B76-D55B-18CF-674C-2E19FA4D80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6896" y="40134876"/>
            <a:ext cx="15191087" cy="271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-Incorporate online ML for continous adaptation.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-More scheduler and workload type support.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-Develop a GUI for monitoring and configuration.</a:t>
            </a:r>
          </a:p>
          <a:p>
            <a:pPr algn="just">
              <a:lnSpc>
                <a:spcPct val="110000"/>
              </a:lnSpc>
            </a:pP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-Perform large scale evaluations on diverse hardware platforms.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2053" name="Group 2052">
            <a:extLst>
              <a:ext uri="{FF2B5EF4-FFF2-40B4-BE49-F238E27FC236}">
                <a16:creationId xmlns:a16="http://schemas.microsoft.com/office/drawing/2014/main" id="{0C427FD4-C682-FE05-7A72-DBB655AE9A4B}"/>
              </a:ext>
            </a:extLst>
          </p:cNvPr>
          <p:cNvGrpSpPr/>
          <p:nvPr/>
        </p:nvGrpSpPr>
        <p:grpSpPr>
          <a:xfrm>
            <a:off x="812758" y="39018816"/>
            <a:ext cx="5132896" cy="923330"/>
            <a:chOff x="822963" y="5867404"/>
            <a:chExt cx="5132896" cy="923330"/>
          </a:xfrm>
        </p:grpSpPr>
        <p:sp>
          <p:nvSpPr>
            <p:cNvPr id="2054" name="TextBox 2053">
              <a:extLst>
                <a:ext uri="{FF2B5EF4-FFF2-40B4-BE49-F238E27FC236}">
                  <a16:creationId xmlns:a16="http://schemas.microsoft.com/office/drawing/2014/main" id="{0136DE19-94BC-E46F-877D-D550A0354EA5}"/>
                </a:ext>
              </a:extLst>
            </p:cNvPr>
            <p:cNvSpPr txBox="1"/>
            <p:nvPr/>
          </p:nvSpPr>
          <p:spPr>
            <a:xfrm>
              <a:off x="1188720" y="5867404"/>
              <a:ext cx="4767139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E4D99"/>
                  </a:solidFill>
                  <a:latin typeface="Amaranth" panose="02000503050000020004" pitchFamily="2" charset="0"/>
                </a:rPr>
                <a:t>FUTURE WORK</a:t>
              </a:r>
              <a:endParaRPr lang="en-US" sz="5400" dirty="0">
                <a:solidFill>
                  <a:srgbClr val="6E4D99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055" name="Rectangle 2054">
              <a:extLst>
                <a:ext uri="{FF2B5EF4-FFF2-40B4-BE49-F238E27FC236}">
                  <a16:creationId xmlns:a16="http://schemas.microsoft.com/office/drawing/2014/main" id="{69451B00-49B1-D687-F8B9-726D6FE7F877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rgbClr val="6E4D99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debatingdenim|08-2022"/>
</p:tagLst>
</file>

<file path=ppt/theme/theme1.xml><?xml version="1.0" encoding="utf-8"?>
<a:theme xmlns:a="http://schemas.openxmlformats.org/drawingml/2006/main" name="Default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e9bba26-c7b2-4a27-a3ac-cd76b284cae0">
      <Terms xmlns="http://schemas.microsoft.com/office/infopath/2007/PartnerControls"/>
    </lcf76f155ced4ddcb4097134ff3c332f>
    <TaxCatchAll xmlns="f76e5be2-97eb-4a1b-ab44-72f8057eaa9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A2D9663D32F195478084E660A9F44C9E" ma:contentTypeVersion="10" ma:contentTypeDescription="Yeni belge oluşturun." ma:contentTypeScope="" ma:versionID="6d98bf1c7ffb5fb69278a9c6338486c7">
  <xsd:schema xmlns:xsd="http://www.w3.org/2001/XMLSchema" xmlns:xs="http://www.w3.org/2001/XMLSchema" xmlns:p="http://schemas.microsoft.com/office/2006/metadata/properties" xmlns:ns2="7e9bba26-c7b2-4a27-a3ac-cd76b284cae0" xmlns:ns3="f76e5be2-97eb-4a1b-ab44-72f8057eaa93" targetNamespace="http://schemas.microsoft.com/office/2006/metadata/properties" ma:root="true" ma:fieldsID="508632a5764188408bb22ca1c81e76c3" ns2:_="" ns3:_="">
    <xsd:import namespace="7e9bba26-c7b2-4a27-a3ac-cd76b284cae0"/>
    <xsd:import namespace="f76e5be2-97eb-4a1b-ab44-72f8057eaa9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9bba26-c7b2-4a27-a3ac-cd76b284ca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cb45cfc6-cda2-484b-ba56-93f10201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6e5be2-97eb-4a1b-ab44-72f8057eaa9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63e7a43-950c-4071-897c-2476f0563480}" ma:internalName="TaxCatchAll" ma:showField="CatchAllData" ma:web="f76e5be2-97eb-4a1b-ab44-72f8057eaa9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D1AFEC2-01E4-469A-ACC5-AEBE441405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69D243-DBC8-4766-A43A-43C1845F72B7}">
  <ds:schemaRefs>
    <ds:schemaRef ds:uri="http://schemas.microsoft.com/office/2006/metadata/properties"/>
    <ds:schemaRef ds:uri="http://schemas.microsoft.com/office/infopath/2007/PartnerControls"/>
    <ds:schemaRef ds:uri="7e9bba26-c7b2-4a27-a3ac-cd76b284cae0"/>
    <ds:schemaRef ds:uri="f76e5be2-97eb-4a1b-ab44-72f8057eaa93"/>
  </ds:schemaRefs>
</ds:datastoreItem>
</file>

<file path=customXml/itemProps3.xml><?xml version="1.0" encoding="utf-8"?>
<ds:datastoreItem xmlns:ds="http://schemas.openxmlformats.org/officeDocument/2006/customXml" ds:itemID="{E313273B-2550-468A-8D3C-8EF0BB816C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e9bba26-c7b2-4a27-a3ac-cd76b284cae0"/>
    <ds:schemaRef ds:uri="f76e5be2-97eb-4a1b-ab44-72f8057eaa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283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Amaranth</vt:lpstr>
      <vt:lpstr>Titillium Web</vt:lpstr>
      <vt:lpstr>Tahoma</vt:lpstr>
      <vt:lpstr>Montserrat Light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research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We offer free PowerPoint poster templates to help you design your very own scientific poster presentation.</dc:description>
  <cp:lastModifiedBy>Onur Karagür</cp:lastModifiedBy>
  <cp:revision>43</cp:revision>
  <dcterms:modified xsi:type="dcterms:W3CDTF">2026-06-01T09:45:40Z</dcterms:modified>
  <cp:category>templates for scientific poster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0x010100A2D9663D32F195478084E660A9F44C9E</vt:lpwstr>
  </property>
</Properties>
</file>